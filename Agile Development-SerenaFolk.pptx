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oppins"/>
      <p:regular r:id="rId12"/>
      <p:bold r:id="rId13"/>
      <p:italic r:id="rId14"/>
      <p:boldItalic r:id="rId15"/>
    </p:embeddedFont>
    <p:embeddedFont>
      <p:font typeface="Urbanist Medium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Urbanist-regular.fntdata"/><Relationship Id="rId22" Type="http://schemas.openxmlformats.org/officeDocument/2006/relationships/font" Target="fonts/Urbanist-italic.fntdata"/><Relationship Id="rId21" Type="http://schemas.openxmlformats.org/officeDocument/2006/relationships/font" Target="fonts/Urbanist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Urbanist-boldItalic.fntdata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7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UrbanistMedium-bold.fntdata"/><Relationship Id="rId16" Type="http://schemas.openxmlformats.org/officeDocument/2006/relationships/font" Target="fonts/UrbanistMedium-regular.fntdata"/><Relationship Id="rId19" Type="http://schemas.openxmlformats.org/officeDocument/2006/relationships/font" Target="fonts/UrbanistMedium-boldItalic.fntdata"/><Relationship Id="rId18" Type="http://schemas.openxmlformats.org/officeDocument/2006/relationships/font" Target="fonts/Urbanist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95bcfe9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d95bcfe9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95bcfe93e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d95bcfe93e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d95bcfe93e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d95bcfe93e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Scrum Team? | Scrum.org. (n.d.). Www.scrum.org. https://www.scrum.org/resources/what-scrum-team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‌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95bcfe93e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d95bcfe93e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Jackson, G., Kosinski, M., &amp; Holdsworth, J. (2024, December 13). What Is the Software Development Lifecycle (SDLC)? Ibm.com. https://www.ibm.com/think/topics/sdlc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d95bcfe93e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d95bcfe93e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Atlassian. (2025). Waterfall Methodology for Project Management. Atlassian. https://www.atlassian.com/agile/project-management/waterfall-methodology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‌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d95bcfe93e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d95bcfe93e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Kavlakoglu, E. (2024, July 25). Agile vs. Waterfall: What’s the Difference? | IBM. Www.ibm.com. https://www.ibm.com/think/topics/agile-vs-waterfall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‌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187175" y="2745548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Agile Development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descr="Logo&#10;&#10;Description automatically generated with medium confidence" id="574" name="Google Shape;57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9291" y="214861"/>
            <a:ext cx="3868075" cy="28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/>
          <p:nvPr>
            <p:ph idx="1" type="subTitle"/>
          </p:nvPr>
        </p:nvSpPr>
        <p:spPr>
          <a:xfrm>
            <a:off x="5537976" y="1368300"/>
            <a:ext cx="34536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Agile Roles</a:t>
            </a:r>
            <a:endParaRPr/>
          </a:p>
        </p:txBody>
      </p:sp>
      <p:sp>
        <p:nvSpPr>
          <p:cNvPr id="580" name="Google Shape;580;p55"/>
          <p:cNvSpPr txBox="1"/>
          <p:nvPr>
            <p:ph idx="3" type="subTitle"/>
          </p:nvPr>
        </p:nvSpPr>
        <p:spPr>
          <a:xfrm>
            <a:off x="5537976" y="2131763"/>
            <a:ext cx="34536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Agile </a:t>
            </a:r>
            <a:r>
              <a:rPr lang="en"/>
              <a:t>Phases</a:t>
            </a:r>
            <a:endParaRPr/>
          </a:p>
        </p:txBody>
      </p:sp>
      <p:sp>
        <p:nvSpPr>
          <p:cNvPr id="581" name="Google Shape;581;p55"/>
          <p:cNvSpPr txBox="1"/>
          <p:nvPr>
            <p:ph idx="5" type="subTitle"/>
          </p:nvPr>
        </p:nvSpPr>
        <p:spPr>
          <a:xfrm>
            <a:off x="5537976" y="2900576"/>
            <a:ext cx="34536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Describing Waterfall Method</a:t>
            </a:r>
            <a:endParaRPr/>
          </a:p>
        </p:txBody>
      </p:sp>
      <p:sp>
        <p:nvSpPr>
          <p:cNvPr id="582" name="Google Shape;582;p55"/>
          <p:cNvSpPr txBox="1"/>
          <p:nvPr>
            <p:ph idx="7" type="subTitle"/>
          </p:nvPr>
        </p:nvSpPr>
        <p:spPr>
          <a:xfrm>
            <a:off x="5537976" y="3664038"/>
            <a:ext cx="34536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or Agile Approach</a:t>
            </a:r>
            <a:endParaRPr/>
          </a:p>
        </p:txBody>
      </p:sp>
      <p:sp>
        <p:nvSpPr>
          <p:cNvPr id="583" name="Google Shape;583;p55"/>
          <p:cNvSpPr txBox="1"/>
          <p:nvPr/>
        </p:nvSpPr>
        <p:spPr>
          <a:xfrm>
            <a:off x="4665825" y="2132150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02.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84" name="Google Shape;584;p55"/>
          <p:cNvSpPr txBox="1"/>
          <p:nvPr/>
        </p:nvSpPr>
        <p:spPr>
          <a:xfrm>
            <a:off x="4665825" y="1374240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01</a:t>
            </a: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85" name="Google Shape;585;p55"/>
          <p:cNvSpPr txBox="1"/>
          <p:nvPr/>
        </p:nvSpPr>
        <p:spPr>
          <a:xfrm>
            <a:off x="4665825" y="2912600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03</a:t>
            </a: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86" name="Google Shape;586;p55"/>
          <p:cNvSpPr txBox="1"/>
          <p:nvPr/>
        </p:nvSpPr>
        <p:spPr>
          <a:xfrm>
            <a:off x="4665825" y="3655421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04</a:t>
            </a: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87" name="Google Shape;587;p55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588" name="Google Shape;588;p55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Chada Tech</a:t>
            </a:r>
            <a:endParaRPr/>
          </a:p>
        </p:txBody>
      </p:sp>
      <p:sp>
        <p:nvSpPr>
          <p:cNvPr id="589" name="Google Shape;589;p55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6"/>
          <p:cNvSpPr/>
          <p:nvPr/>
        </p:nvSpPr>
        <p:spPr>
          <a:xfrm>
            <a:off x="284700" y="1399150"/>
            <a:ext cx="2414100" cy="32697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6"/>
          <p:cNvSpPr/>
          <p:nvPr/>
        </p:nvSpPr>
        <p:spPr>
          <a:xfrm>
            <a:off x="3145525" y="1399150"/>
            <a:ext cx="2414100" cy="3269700"/>
          </a:xfrm>
          <a:prstGeom prst="round1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6" name="Google Shape;596;p56"/>
          <p:cNvSpPr/>
          <p:nvPr/>
        </p:nvSpPr>
        <p:spPr>
          <a:xfrm>
            <a:off x="6351575" y="1399150"/>
            <a:ext cx="2414100" cy="3269700"/>
          </a:xfrm>
          <a:prstGeom prst="round1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7" name="Google Shape;597;p56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Agile Roles</a:t>
            </a:r>
            <a:endParaRPr/>
          </a:p>
        </p:txBody>
      </p:sp>
      <p:sp>
        <p:nvSpPr>
          <p:cNvPr id="598" name="Google Shape;598;p56"/>
          <p:cNvSpPr txBox="1"/>
          <p:nvPr>
            <p:ph idx="29" type="title"/>
          </p:nvPr>
        </p:nvSpPr>
        <p:spPr>
          <a:xfrm>
            <a:off x="6536750" y="156948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</a:t>
            </a:r>
            <a:endParaRPr/>
          </a:p>
        </p:txBody>
      </p:sp>
      <p:sp>
        <p:nvSpPr>
          <p:cNvPr id="599" name="Google Shape;599;p56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Master</a:t>
            </a:r>
            <a:endParaRPr/>
          </a:p>
        </p:txBody>
      </p:sp>
      <p:sp>
        <p:nvSpPr>
          <p:cNvPr id="600" name="Google Shape;600;p56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Owner</a:t>
            </a:r>
            <a:endParaRPr/>
          </a:p>
        </p:txBody>
      </p:sp>
      <p:sp>
        <p:nvSpPr>
          <p:cNvPr id="601" name="Google Shape;601;p5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Chada Tech</a:t>
            </a:r>
            <a:endParaRPr/>
          </a:p>
        </p:txBody>
      </p:sp>
      <p:sp>
        <p:nvSpPr>
          <p:cNvPr id="602" name="Google Shape;602;p56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2026</a:t>
            </a:r>
            <a:endParaRPr/>
          </a:p>
        </p:txBody>
      </p:sp>
      <p:sp>
        <p:nvSpPr>
          <p:cNvPr id="603" name="Google Shape;603;p56"/>
          <p:cNvSpPr txBox="1"/>
          <p:nvPr/>
        </p:nvSpPr>
        <p:spPr>
          <a:xfrm>
            <a:off x="429675" y="2397700"/>
            <a:ext cx="1923900" cy="1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Focuses on maximizing the value of product &amp; work from the Development Team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4" name="Google Shape;604;p56"/>
          <p:cNvSpPr txBox="1"/>
          <p:nvPr/>
        </p:nvSpPr>
        <p:spPr>
          <a:xfrm>
            <a:off x="3330700" y="2397700"/>
            <a:ext cx="1923900" cy="17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Provides guidance in Agile Methodology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Liaison</a:t>
            </a: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between Development team and Product Owner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5" name="Google Shape;605;p56"/>
          <p:cNvSpPr txBox="1"/>
          <p:nvPr/>
        </p:nvSpPr>
        <p:spPr>
          <a:xfrm>
            <a:off x="6536750" y="2621950"/>
            <a:ext cx="1923900" cy="14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Has Developers and Testers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Works collaboratively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0" name="Google Shape;610;p57"/>
          <p:cNvCxnSpPr/>
          <p:nvPr/>
        </p:nvCxnSpPr>
        <p:spPr>
          <a:xfrm>
            <a:off x="331300" y="1959225"/>
            <a:ext cx="85281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1" name="Google Shape;611;p57"/>
          <p:cNvSpPr/>
          <p:nvPr/>
        </p:nvSpPr>
        <p:spPr>
          <a:xfrm flipH="1" rot="-5400000">
            <a:off x="-22050" y="1704600"/>
            <a:ext cx="551700" cy="4899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2" name="Google Shape;612;p57"/>
          <p:cNvSpPr/>
          <p:nvPr/>
        </p:nvSpPr>
        <p:spPr>
          <a:xfrm flipH="1" rot="-5400000">
            <a:off x="1549503" y="1704600"/>
            <a:ext cx="551700" cy="4899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p57"/>
          <p:cNvSpPr/>
          <p:nvPr/>
        </p:nvSpPr>
        <p:spPr>
          <a:xfrm flipH="1" rot="-5400000">
            <a:off x="3117701" y="1704600"/>
            <a:ext cx="551700" cy="4899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p57"/>
          <p:cNvSpPr/>
          <p:nvPr/>
        </p:nvSpPr>
        <p:spPr>
          <a:xfrm flipH="1" rot="-5400000">
            <a:off x="4680615" y="1704600"/>
            <a:ext cx="551700" cy="4899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57"/>
          <p:cNvSpPr/>
          <p:nvPr/>
        </p:nvSpPr>
        <p:spPr>
          <a:xfrm flipH="1" rot="-5400000">
            <a:off x="6077202" y="1704600"/>
            <a:ext cx="551700" cy="4899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p5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Agile Phases</a:t>
            </a:r>
            <a:endParaRPr/>
          </a:p>
        </p:txBody>
      </p:sp>
      <p:sp>
        <p:nvSpPr>
          <p:cNvPr id="617" name="Google Shape;617;p57"/>
          <p:cNvSpPr txBox="1"/>
          <p:nvPr>
            <p:ph idx="1" type="subTitle"/>
          </p:nvPr>
        </p:nvSpPr>
        <p:spPr>
          <a:xfrm>
            <a:off x="241808" y="2269629"/>
            <a:ext cx="13392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</a:t>
            </a:r>
            <a:endParaRPr/>
          </a:p>
        </p:txBody>
      </p:sp>
      <p:sp>
        <p:nvSpPr>
          <p:cNvPr id="618" name="Google Shape;618;p57"/>
          <p:cNvSpPr txBox="1"/>
          <p:nvPr>
            <p:ph idx="2" type="subTitle"/>
          </p:nvPr>
        </p:nvSpPr>
        <p:spPr>
          <a:xfrm>
            <a:off x="1803755" y="2269629"/>
            <a:ext cx="13392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619" name="Google Shape;619;p57"/>
          <p:cNvSpPr txBox="1"/>
          <p:nvPr>
            <p:ph idx="3" type="subTitle"/>
          </p:nvPr>
        </p:nvSpPr>
        <p:spPr>
          <a:xfrm>
            <a:off x="3370621" y="2269629"/>
            <a:ext cx="13392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620" name="Google Shape;620;p57"/>
          <p:cNvSpPr txBox="1"/>
          <p:nvPr>
            <p:ph idx="4" type="subTitle"/>
          </p:nvPr>
        </p:nvSpPr>
        <p:spPr>
          <a:xfrm>
            <a:off x="4933971" y="2269629"/>
            <a:ext cx="13392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</a:t>
            </a:r>
            <a:endParaRPr/>
          </a:p>
        </p:txBody>
      </p:sp>
      <p:sp>
        <p:nvSpPr>
          <p:cNvPr id="621" name="Google Shape;621;p57"/>
          <p:cNvSpPr txBox="1"/>
          <p:nvPr>
            <p:ph idx="5" type="subTitle"/>
          </p:nvPr>
        </p:nvSpPr>
        <p:spPr>
          <a:xfrm>
            <a:off x="6345399" y="2269629"/>
            <a:ext cx="13392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622" name="Google Shape;622;p57"/>
          <p:cNvSpPr txBox="1"/>
          <p:nvPr>
            <p:ph idx="6" type="body"/>
          </p:nvPr>
        </p:nvSpPr>
        <p:spPr>
          <a:xfrm>
            <a:off x="258366" y="3263077"/>
            <a:ext cx="13392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Establishes what the goals are based on </a:t>
            </a:r>
            <a:r>
              <a:rPr lang="en"/>
              <a:t>feedback from End Users &amp; Stakeholders.</a:t>
            </a:r>
            <a:endParaRPr/>
          </a:p>
        </p:txBody>
      </p:sp>
      <p:sp>
        <p:nvSpPr>
          <p:cNvPr id="623" name="Google Shape;623;p57"/>
          <p:cNvSpPr txBox="1"/>
          <p:nvPr>
            <p:ph idx="7" type="body"/>
          </p:nvPr>
        </p:nvSpPr>
        <p:spPr>
          <a:xfrm>
            <a:off x="1818194" y="3263077"/>
            <a:ext cx="13392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Project Managers and Development team fully understand and documented the scope of the project.</a:t>
            </a:r>
            <a:endParaRPr/>
          </a:p>
        </p:txBody>
      </p:sp>
      <p:sp>
        <p:nvSpPr>
          <p:cNvPr id="624" name="Google Shape;624;p57"/>
          <p:cNvSpPr txBox="1"/>
          <p:nvPr>
            <p:ph idx="8" type="body"/>
          </p:nvPr>
        </p:nvSpPr>
        <p:spPr>
          <a:xfrm>
            <a:off x="3378023" y="3263077"/>
            <a:ext cx="13392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Discovering the projects architecture. A SDD is created so that </a:t>
            </a:r>
            <a:r>
              <a:rPr lang="en"/>
              <a:t>developers</a:t>
            </a:r>
            <a:r>
              <a:rPr lang="en"/>
              <a:t> have a roadmap </a:t>
            </a:r>
            <a:r>
              <a:rPr lang="en"/>
              <a:t>when coding.</a:t>
            </a:r>
            <a:endParaRPr/>
          </a:p>
        </p:txBody>
      </p:sp>
      <p:sp>
        <p:nvSpPr>
          <p:cNvPr id="625" name="Google Shape;625;p57"/>
          <p:cNvSpPr txBox="1"/>
          <p:nvPr>
            <p:ph idx="9" type="body"/>
          </p:nvPr>
        </p:nvSpPr>
        <p:spPr>
          <a:xfrm>
            <a:off x="4937852" y="3263077"/>
            <a:ext cx="13392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Development team actually begins writing code and creating the product.</a:t>
            </a:r>
            <a:endParaRPr/>
          </a:p>
        </p:txBody>
      </p:sp>
      <p:sp>
        <p:nvSpPr>
          <p:cNvPr id="626" name="Google Shape;626;p57"/>
          <p:cNvSpPr txBox="1"/>
          <p:nvPr>
            <p:ph idx="13" type="body"/>
          </p:nvPr>
        </p:nvSpPr>
        <p:spPr>
          <a:xfrm>
            <a:off x="6328497" y="3263077"/>
            <a:ext cx="13392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Testers conduct End User style testing so ensure the User Story’s have been executed. They also find bugs. </a:t>
            </a:r>
            <a:endParaRPr/>
          </a:p>
        </p:txBody>
      </p:sp>
      <p:sp>
        <p:nvSpPr>
          <p:cNvPr id="627" name="Google Shape;627;p57"/>
          <p:cNvSpPr txBox="1"/>
          <p:nvPr>
            <p:ph idx="14" type="subTitle"/>
          </p:nvPr>
        </p:nvSpPr>
        <p:spPr>
          <a:xfrm>
            <a:off x="258366" y="2737063"/>
            <a:ext cx="133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Project Plan</a:t>
            </a:r>
            <a:endParaRPr/>
          </a:p>
        </p:txBody>
      </p:sp>
      <p:sp>
        <p:nvSpPr>
          <p:cNvPr id="628" name="Google Shape;628;p57"/>
          <p:cNvSpPr txBox="1"/>
          <p:nvPr>
            <p:ph idx="15" type="subTitle"/>
          </p:nvPr>
        </p:nvSpPr>
        <p:spPr>
          <a:xfrm>
            <a:off x="1820313" y="2737063"/>
            <a:ext cx="133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Documentation</a:t>
            </a:r>
            <a:endParaRPr/>
          </a:p>
        </p:txBody>
      </p:sp>
      <p:sp>
        <p:nvSpPr>
          <p:cNvPr id="629" name="Google Shape;629;p57"/>
          <p:cNvSpPr txBox="1"/>
          <p:nvPr>
            <p:ph idx="16" type="subTitle"/>
          </p:nvPr>
        </p:nvSpPr>
        <p:spPr>
          <a:xfrm>
            <a:off x="3387179" y="2737074"/>
            <a:ext cx="133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Design Document</a:t>
            </a:r>
            <a:endParaRPr/>
          </a:p>
        </p:txBody>
      </p:sp>
      <p:sp>
        <p:nvSpPr>
          <p:cNvPr id="630" name="Google Shape;630;p57"/>
          <p:cNvSpPr txBox="1"/>
          <p:nvPr>
            <p:ph idx="17" type="subTitle"/>
          </p:nvPr>
        </p:nvSpPr>
        <p:spPr>
          <a:xfrm>
            <a:off x="4933971" y="2737074"/>
            <a:ext cx="133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Prototype</a:t>
            </a:r>
            <a:endParaRPr/>
          </a:p>
        </p:txBody>
      </p:sp>
      <p:sp>
        <p:nvSpPr>
          <p:cNvPr id="631" name="Google Shape;631;p57"/>
          <p:cNvSpPr txBox="1"/>
          <p:nvPr>
            <p:ph idx="18" type="subTitle"/>
          </p:nvPr>
        </p:nvSpPr>
        <p:spPr>
          <a:xfrm>
            <a:off x="6345399" y="2737074"/>
            <a:ext cx="133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 and Optimize</a:t>
            </a:r>
            <a:endParaRPr/>
          </a:p>
        </p:txBody>
      </p:sp>
      <p:sp>
        <p:nvSpPr>
          <p:cNvPr id="632" name="Google Shape;632;p57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33" name="Google Shape;633;p57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2026</a:t>
            </a:r>
            <a:endParaRPr/>
          </a:p>
        </p:txBody>
      </p:sp>
      <p:sp>
        <p:nvSpPr>
          <p:cNvPr id="634" name="Google Shape;634;p57"/>
          <p:cNvSpPr/>
          <p:nvPr/>
        </p:nvSpPr>
        <p:spPr>
          <a:xfrm flipH="1" rot="-5400000">
            <a:off x="7504028" y="1712005"/>
            <a:ext cx="551700" cy="4899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57"/>
          <p:cNvSpPr txBox="1"/>
          <p:nvPr>
            <p:ph idx="5" type="subTitle"/>
          </p:nvPr>
        </p:nvSpPr>
        <p:spPr>
          <a:xfrm>
            <a:off x="7772225" y="2277034"/>
            <a:ext cx="13392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Deployment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36" name="Google Shape;636;p57"/>
          <p:cNvSpPr txBox="1"/>
          <p:nvPr>
            <p:ph idx="13" type="body"/>
          </p:nvPr>
        </p:nvSpPr>
        <p:spPr>
          <a:xfrm>
            <a:off x="7755324" y="3270482"/>
            <a:ext cx="13392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End Users access the new features. </a:t>
            </a:r>
            <a:endParaRPr/>
          </a:p>
        </p:txBody>
      </p:sp>
      <p:sp>
        <p:nvSpPr>
          <p:cNvPr id="637" name="Google Shape;637;p57"/>
          <p:cNvSpPr txBox="1"/>
          <p:nvPr>
            <p:ph idx="18" type="subTitle"/>
          </p:nvPr>
        </p:nvSpPr>
        <p:spPr>
          <a:xfrm>
            <a:off x="7772225" y="2744479"/>
            <a:ext cx="133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in Production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Chada Tech</a:t>
            </a:r>
            <a:endParaRPr/>
          </a:p>
        </p:txBody>
      </p:sp>
      <p:sp>
        <p:nvSpPr>
          <p:cNvPr id="643" name="Google Shape;643;p5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2026</a:t>
            </a:r>
            <a:endParaRPr/>
          </a:p>
        </p:txBody>
      </p:sp>
      <p:sp>
        <p:nvSpPr>
          <p:cNvPr id="644" name="Google Shape;644;p58"/>
          <p:cNvSpPr txBox="1"/>
          <p:nvPr>
            <p:ph idx="4" type="body"/>
          </p:nvPr>
        </p:nvSpPr>
        <p:spPr>
          <a:xfrm>
            <a:off x="286425" y="1968875"/>
            <a:ext cx="4290600" cy="236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Requires contract </a:t>
            </a:r>
            <a:r>
              <a:rPr lang="en"/>
              <a:t>negotiation</a:t>
            </a:r>
            <a:r>
              <a:rPr lang="en"/>
              <a:t> and upfront scope of project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Does not allow for refinement or change of User stories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Is not flexible on timeline, does not have sprints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Better for simple projects that do not change</a:t>
            </a:r>
            <a:endParaRPr/>
          </a:p>
        </p:txBody>
      </p:sp>
      <p:sp>
        <p:nvSpPr>
          <p:cNvPr id="645" name="Google Shape;645;p5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Method</a:t>
            </a:r>
            <a:endParaRPr/>
          </a:p>
        </p:txBody>
      </p:sp>
      <p:sp>
        <p:nvSpPr>
          <p:cNvPr id="646" name="Google Shape;646;p58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9"/>
          <p:cNvSpPr/>
          <p:nvPr/>
        </p:nvSpPr>
        <p:spPr>
          <a:xfrm>
            <a:off x="284700" y="1427825"/>
            <a:ext cx="2508900" cy="3252600"/>
          </a:xfrm>
          <a:prstGeom prst="round1Rect">
            <a:avLst>
              <a:gd fmla="val 22856" name="adj"/>
            </a:avLst>
          </a:prstGeom>
          <a:solidFill>
            <a:schemeClr val="dk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2" name="Google Shape;652;p59"/>
          <p:cNvSpPr/>
          <p:nvPr/>
        </p:nvSpPr>
        <p:spPr>
          <a:xfrm>
            <a:off x="394847" y="1569772"/>
            <a:ext cx="2233500" cy="92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3" name="Google Shape;653;p59"/>
          <p:cNvSpPr/>
          <p:nvPr/>
        </p:nvSpPr>
        <p:spPr>
          <a:xfrm>
            <a:off x="394847" y="2591972"/>
            <a:ext cx="2233500" cy="92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4" name="Google Shape;654;p59"/>
          <p:cNvSpPr/>
          <p:nvPr/>
        </p:nvSpPr>
        <p:spPr>
          <a:xfrm>
            <a:off x="394847" y="3614172"/>
            <a:ext cx="2233500" cy="92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5" name="Google Shape;655;p59"/>
          <p:cNvSpPr/>
          <p:nvPr/>
        </p:nvSpPr>
        <p:spPr>
          <a:xfrm>
            <a:off x="3389429" y="1427825"/>
            <a:ext cx="2508900" cy="3252600"/>
          </a:xfrm>
          <a:prstGeom prst="round1Rect">
            <a:avLst>
              <a:gd fmla="val 22856" name="adj"/>
            </a:avLst>
          </a:prstGeom>
          <a:solidFill>
            <a:schemeClr val="dk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6" name="Google Shape;656;p59"/>
          <p:cNvSpPr/>
          <p:nvPr/>
        </p:nvSpPr>
        <p:spPr>
          <a:xfrm>
            <a:off x="3499576" y="1569772"/>
            <a:ext cx="2233500" cy="929100"/>
          </a:xfrm>
          <a:prstGeom prst="round1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7" name="Google Shape;657;p59"/>
          <p:cNvSpPr/>
          <p:nvPr/>
        </p:nvSpPr>
        <p:spPr>
          <a:xfrm>
            <a:off x="3499576" y="2591972"/>
            <a:ext cx="2233500" cy="929100"/>
          </a:xfrm>
          <a:prstGeom prst="round1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8" name="Google Shape;658;p59"/>
          <p:cNvSpPr/>
          <p:nvPr/>
        </p:nvSpPr>
        <p:spPr>
          <a:xfrm>
            <a:off x="3499576" y="3614172"/>
            <a:ext cx="2233500" cy="929100"/>
          </a:xfrm>
          <a:prstGeom prst="round1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9" name="Google Shape;659;p5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vs Waterfall</a:t>
            </a:r>
            <a:endParaRPr/>
          </a:p>
        </p:txBody>
      </p:sp>
      <p:sp>
        <p:nvSpPr>
          <p:cNvPr id="660" name="Google Shape;660;p59"/>
          <p:cNvSpPr txBox="1"/>
          <p:nvPr>
            <p:ph idx="1" type="subTitle"/>
          </p:nvPr>
        </p:nvSpPr>
        <p:spPr>
          <a:xfrm>
            <a:off x="284700" y="1013951"/>
            <a:ext cx="2508900" cy="36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</a:t>
            </a:r>
            <a:endParaRPr/>
          </a:p>
        </p:txBody>
      </p:sp>
      <p:sp>
        <p:nvSpPr>
          <p:cNvPr id="661" name="Google Shape;661;p59"/>
          <p:cNvSpPr txBox="1"/>
          <p:nvPr>
            <p:ph idx="3" type="subTitle"/>
          </p:nvPr>
        </p:nvSpPr>
        <p:spPr>
          <a:xfrm>
            <a:off x="3389429" y="1013951"/>
            <a:ext cx="2508900" cy="36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</a:t>
            </a:r>
            <a:endParaRPr/>
          </a:p>
        </p:txBody>
      </p:sp>
      <p:sp>
        <p:nvSpPr>
          <p:cNvPr id="662" name="Google Shape;662;p59"/>
          <p:cNvSpPr txBox="1"/>
          <p:nvPr>
            <p:ph idx="5" type="subTitle"/>
          </p:nvPr>
        </p:nvSpPr>
        <p:spPr>
          <a:xfrm>
            <a:off x="535199" y="1759800"/>
            <a:ext cx="11595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Flexibility</a:t>
            </a:r>
            <a:endParaRPr/>
          </a:p>
        </p:txBody>
      </p:sp>
      <p:sp>
        <p:nvSpPr>
          <p:cNvPr id="663" name="Google Shape;663;p59"/>
          <p:cNvSpPr txBox="1"/>
          <p:nvPr>
            <p:ph idx="6" type="subTitle"/>
          </p:nvPr>
        </p:nvSpPr>
        <p:spPr>
          <a:xfrm>
            <a:off x="535201" y="2074075"/>
            <a:ext cx="15711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room for refinement and change</a:t>
            </a:r>
            <a:endParaRPr/>
          </a:p>
        </p:txBody>
      </p:sp>
      <p:sp>
        <p:nvSpPr>
          <p:cNvPr id="664" name="Google Shape;664;p59"/>
          <p:cNvSpPr txBox="1"/>
          <p:nvPr>
            <p:ph idx="8" type="subTitle"/>
          </p:nvPr>
        </p:nvSpPr>
        <p:spPr>
          <a:xfrm>
            <a:off x="535200" y="2782000"/>
            <a:ext cx="12963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</a:t>
            </a:r>
            <a:endParaRPr/>
          </a:p>
        </p:txBody>
      </p:sp>
      <p:sp>
        <p:nvSpPr>
          <p:cNvPr id="665" name="Google Shape;665;p5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meets daily to discuss the </a:t>
            </a:r>
            <a:r>
              <a:rPr lang="en"/>
              <a:t>project</a:t>
            </a:r>
            <a:endParaRPr/>
          </a:p>
        </p:txBody>
      </p:sp>
      <p:sp>
        <p:nvSpPr>
          <p:cNvPr id="666" name="Google Shape;666;p59"/>
          <p:cNvSpPr txBox="1"/>
          <p:nvPr>
            <p:ph idx="14" type="subTitle"/>
          </p:nvPr>
        </p:nvSpPr>
        <p:spPr>
          <a:xfrm>
            <a:off x="535199" y="3804200"/>
            <a:ext cx="11595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667" name="Google Shape;667;p59"/>
          <p:cNvSpPr txBox="1"/>
          <p:nvPr>
            <p:ph idx="15" type="subTitle"/>
          </p:nvPr>
        </p:nvSpPr>
        <p:spPr>
          <a:xfrm>
            <a:off x="535200" y="4118475"/>
            <a:ext cx="18693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for long term projects that have changing deadlines</a:t>
            </a:r>
            <a:endParaRPr/>
          </a:p>
        </p:txBody>
      </p:sp>
      <p:sp>
        <p:nvSpPr>
          <p:cNvPr id="668" name="Google Shape;668;p59"/>
          <p:cNvSpPr txBox="1"/>
          <p:nvPr>
            <p:ph idx="26" type="subTitle"/>
          </p:nvPr>
        </p:nvSpPr>
        <p:spPr>
          <a:xfrm>
            <a:off x="3639928" y="1759800"/>
            <a:ext cx="11595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Flexibility</a:t>
            </a:r>
            <a:endParaRPr/>
          </a:p>
        </p:txBody>
      </p:sp>
      <p:sp>
        <p:nvSpPr>
          <p:cNvPr id="669" name="Google Shape;669;p59"/>
          <p:cNvSpPr txBox="1"/>
          <p:nvPr>
            <p:ph idx="27" type="subTitle"/>
          </p:nvPr>
        </p:nvSpPr>
        <p:spPr>
          <a:xfrm>
            <a:off x="3639925" y="2074075"/>
            <a:ext cx="15711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is </a:t>
            </a:r>
            <a:r>
              <a:rPr lang="en"/>
              <a:t>defined</a:t>
            </a:r>
            <a:r>
              <a:rPr lang="en"/>
              <a:t> early and does not change</a:t>
            </a:r>
            <a:endParaRPr/>
          </a:p>
        </p:txBody>
      </p:sp>
      <p:sp>
        <p:nvSpPr>
          <p:cNvPr id="670" name="Google Shape;670;p59"/>
          <p:cNvSpPr txBox="1"/>
          <p:nvPr>
            <p:ph idx="29" type="subTitle"/>
          </p:nvPr>
        </p:nvSpPr>
        <p:spPr>
          <a:xfrm>
            <a:off x="3639924" y="2782000"/>
            <a:ext cx="13662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</a:t>
            </a:r>
            <a:endParaRPr/>
          </a:p>
        </p:txBody>
      </p:sp>
      <p:sp>
        <p:nvSpPr>
          <p:cNvPr id="671" name="Google Shape;671;p59"/>
          <p:cNvSpPr txBox="1"/>
          <p:nvPr>
            <p:ph idx="30" type="subTitle"/>
          </p:nvPr>
        </p:nvSpPr>
        <p:spPr>
          <a:xfrm>
            <a:off x="3639925" y="3096275"/>
            <a:ext cx="15342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to no meetings. One person per project</a:t>
            </a:r>
            <a:endParaRPr/>
          </a:p>
        </p:txBody>
      </p:sp>
      <p:sp>
        <p:nvSpPr>
          <p:cNvPr id="672" name="Google Shape;672;p59"/>
          <p:cNvSpPr txBox="1"/>
          <p:nvPr>
            <p:ph idx="32" type="subTitle"/>
          </p:nvPr>
        </p:nvSpPr>
        <p:spPr>
          <a:xfrm>
            <a:off x="3639928" y="3804200"/>
            <a:ext cx="11595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673" name="Google Shape;673;p59"/>
          <p:cNvSpPr txBox="1"/>
          <p:nvPr>
            <p:ph idx="33" type="subTitle"/>
          </p:nvPr>
        </p:nvSpPr>
        <p:spPr>
          <a:xfrm>
            <a:off x="3639925" y="4118475"/>
            <a:ext cx="17325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for quick projects that has a consistent </a:t>
            </a:r>
            <a:r>
              <a:rPr lang="en"/>
              <a:t>deadline</a:t>
            </a:r>
            <a:endParaRPr/>
          </a:p>
        </p:txBody>
      </p:sp>
      <p:sp>
        <p:nvSpPr>
          <p:cNvPr id="674" name="Google Shape;674;p5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Chada Tech</a:t>
            </a:r>
            <a:endParaRPr/>
          </a:p>
        </p:txBody>
      </p:sp>
      <p:sp>
        <p:nvSpPr>
          <p:cNvPr id="675" name="Google Shape;675;p5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2026</a:t>
            </a:r>
            <a:endParaRPr/>
          </a:p>
        </p:txBody>
      </p:sp>
      <p:sp>
        <p:nvSpPr>
          <p:cNvPr id="676" name="Google Shape;676;p59"/>
          <p:cNvSpPr txBox="1"/>
          <p:nvPr>
            <p:ph idx="4294967295" type="subTitle"/>
          </p:nvPr>
        </p:nvSpPr>
        <p:spPr>
          <a:xfrm>
            <a:off x="6659399" y="2498878"/>
            <a:ext cx="19704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Approach?</a:t>
            </a:r>
            <a:endParaRPr/>
          </a:p>
        </p:txBody>
      </p:sp>
      <p:sp>
        <p:nvSpPr>
          <p:cNvPr id="677" name="Google Shape;677;p59"/>
          <p:cNvSpPr txBox="1"/>
          <p:nvPr>
            <p:ph idx="4294967295" type="subTitle"/>
          </p:nvPr>
        </p:nvSpPr>
        <p:spPr>
          <a:xfrm>
            <a:off x="6659400" y="2965666"/>
            <a:ext cx="1970400" cy="15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and Agile have their pros and cons. Check with the customers needs when deciding which </a:t>
            </a:r>
            <a:r>
              <a:rPr lang="en"/>
              <a:t>methodology</a:t>
            </a:r>
            <a:r>
              <a:rPr lang="en"/>
              <a:t> to use.</a:t>
            </a:r>
            <a:endParaRPr/>
          </a:p>
        </p:txBody>
      </p:sp>
      <p:sp>
        <p:nvSpPr>
          <p:cNvPr id="678" name="Google Shape;678;p59"/>
          <p:cNvSpPr/>
          <p:nvPr/>
        </p:nvSpPr>
        <p:spPr>
          <a:xfrm flipH="1">
            <a:off x="7202277" y="867515"/>
            <a:ext cx="1021200" cy="9678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9" name="Google Shape;679;p59"/>
          <p:cNvSpPr/>
          <p:nvPr/>
        </p:nvSpPr>
        <p:spPr>
          <a:xfrm flipH="1" rot="10800000">
            <a:off x="7228644" y="1353030"/>
            <a:ext cx="970800" cy="9678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0" name="Google Shape;680;p59"/>
          <p:cNvSpPr/>
          <p:nvPr/>
        </p:nvSpPr>
        <p:spPr>
          <a:xfrm rot="-5400000">
            <a:off x="7216275" y="1835280"/>
            <a:ext cx="994800" cy="9948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